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d56c580b6b4f6f" /><Relationship Type="http://schemas.openxmlformats.org/officeDocument/2006/relationships/extended-properties" Target="/docProps/app.xml" Id="Rdb4201299463442f" /><Relationship Type="http://schemas.openxmlformats.org/officeDocument/2006/relationships/officeDocument" Target="/ppt/presentation.xml" Id="R8bd6d462eff64911" /></Relationships>
</file>

<file path=ppt/presentation.xml><?xml version="1.0" encoding="utf-8"?>
<p:presentation xmlns:p="http://schemas.openxmlformats.org/presentationml/2006/main">
  <p:sldMasterIdLst>
    <p:sldMasterId xmlns:r="http://schemas.openxmlformats.org/officeDocument/2006/relationships" id="2147483648" r:id="Rf0561b7030284ed9"/>
  </p:sldMasterIdLst>
  <p:notesMasterIdLst>
    <p:notesMasterId xmlns:r="http://schemas.openxmlformats.org/officeDocument/2006/relationships" r:id="R2f51cb89c34b47c1"/>
  </p:notesMasterIdLst>
  <p:sldIdLst>
    <p:sldId xmlns:r="http://schemas.openxmlformats.org/officeDocument/2006/relationships" id="256" r:id="R62030a3e74bd4139"/>
    <p:sldId xmlns:r="http://schemas.openxmlformats.org/officeDocument/2006/relationships" id="257" r:id="Rd575a5c06cfe483f"/>
    <p:sldId xmlns:r="http://schemas.openxmlformats.org/officeDocument/2006/relationships" id="258" r:id="R0055f7483dc140f6"/>
    <p:sldId xmlns:r="http://schemas.openxmlformats.org/officeDocument/2006/relationships" id="259" r:id="R065f7f88193d4d0d"/>
    <p:sldId xmlns:r="http://schemas.openxmlformats.org/officeDocument/2006/relationships" id="260" r:id="Ra0f79fd1f66b45ec"/>
    <p:sldId xmlns:r="http://schemas.openxmlformats.org/officeDocument/2006/relationships" id="261" r:id="R25710edb8712430a"/>
    <p:sldId xmlns:r="http://schemas.openxmlformats.org/officeDocument/2006/relationships" id="262" r:id="Rfd70a2ac6189485e"/>
    <p:sldId xmlns:r="http://schemas.openxmlformats.org/officeDocument/2006/relationships" id="263" r:id="R7a62b8278e1245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5e8034161c4556" /><Relationship Type="http://schemas.openxmlformats.org/officeDocument/2006/relationships/slideMaster" Target="/ppt/slideMasters/slideMaster1.xml" Id="Rf0561b7030284ed9" /><Relationship Type="http://schemas.openxmlformats.org/officeDocument/2006/relationships/notesMaster" Target="/ppt/notesMasters/notesMaster1.xml" Id="R2f51cb89c34b47c1" /><Relationship Type="http://schemas.openxmlformats.org/officeDocument/2006/relationships/presProps" Target="/ppt/presProps.xml" Id="Rb419821d52e34686" /><Relationship Type="http://schemas.openxmlformats.org/officeDocument/2006/relationships/tableStyles" Target="/ppt/tableStyles.xml" Id="R7e941024824e4b87" /><Relationship Type="http://schemas.openxmlformats.org/officeDocument/2006/relationships/slide" Target="/ppt/slides/slide1.xml" Id="R62030a3e74bd4139" /><Relationship Type="http://schemas.openxmlformats.org/officeDocument/2006/relationships/slide" Target="/ppt/slides/slide2.xml" Id="Rd575a5c06cfe483f" /><Relationship Type="http://schemas.openxmlformats.org/officeDocument/2006/relationships/slide" Target="/ppt/slides/slide3.xml" Id="R0055f7483dc140f6" /><Relationship Type="http://schemas.openxmlformats.org/officeDocument/2006/relationships/slide" Target="/ppt/slides/slide4.xml" Id="R065f7f88193d4d0d" /><Relationship Type="http://schemas.openxmlformats.org/officeDocument/2006/relationships/slide" Target="/ppt/slides/slide5.xml" Id="Ra0f79fd1f66b45ec" /><Relationship Type="http://schemas.openxmlformats.org/officeDocument/2006/relationships/slide" Target="/ppt/slides/slide6.xml" Id="R25710edb8712430a" /><Relationship Type="http://schemas.openxmlformats.org/officeDocument/2006/relationships/slide" Target="/ppt/slides/slide7.xml" Id="Rfd70a2ac6189485e" /><Relationship Type="http://schemas.openxmlformats.org/officeDocument/2006/relationships/slide" Target="/ppt/slides/slide8.xml" Id="R7a62b8278e1245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a5d55f0bad4c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b06504d6eb494f" /><Relationship Type="http://schemas.openxmlformats.org/officeDocument/2006/relationships/notesMaster" Target="/ppt/notesMasters/notesMaster1.xml" Id="Rb310bf2d00464c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dbf151253e487b" /><Relationship Type="http://schemas.openxmlformats.org/officeDocument/2006/relationships/notesMaster" Target="/ppt/notesMasters/notesMaster1.xml" Id="Rb9bc87c1b3a749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76be6fbafd4cc5" /><Relationship Type="http://schemas.openxmlformats.org/officeDocument/2006/relationships/notesMaster" Target="/ppt/notesMasters/notesMaster1.xml" Id="R3c427516179f48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198f0e73ec4de2" /><Relationship Type="http://schemas.openxmlformats.org/officeDocument/2006/relationships/notesMaster" Target="/ppt/notesMasters/notesMaster1.xml" Id="R783e1006b84e4d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696783d6794cae" /><Relationship Type="http://schemas.openxmlformats.org/officeDocument/2006/relationships/notesMaster" Target="/ppt/notesMasters/notesMaster1.xml" Id="Ra862615c9b8b4f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15fb247ea84871" /><Relationship Type="http://schemas.openxmlformats.org/officeDocument/2006/relationships/notesMaster" Target="/ppt/notesMasters/notesMaster1.xml" Id="Rbd1aa3370e6b4c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4854cb0bae42b4" /><Relationship Type="http://schemas.openxmlformats.org/officeDocument/2006/relationships/notesMaster" Target="/ppt/notesMasters/notesMaster1.xml" Id="R1a369ed655f944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dd59febdf24e62" /><Relationship Type="http://schemas.openxmlformats.org/officeDocument/2006/relationships/notesMaster" Target="/ppt/notesMasters/notesMaster1.xml" Id="R4b61a30af89640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InterviewEdge is our Android placement preparation app. It brings interview practice, computer science tests and spoken English into one place. I will show how a student moves from practice to feedback and then to a specific next step. Source: InterviewEdge project report,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0:15–0:50. Students usually practise technical knowledge, interview communication and spoken English separately. That makes it difficult to see whether, for example, a weak SQL interview answer and a missed DBMS question point to the same gap. InterviewEdge keeps those attempts in one profile. Its recommendation rules then suggest another relevant activity. The score is a practice indicator, not a prediction of placement. Source: project report, pages 2–3 and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0:50–1:40. There are three modules. First, mock interviews can be technical, HR or mixed. A student chooses a role, difficulty, answer mode and time budget. The system stores each answer and can ask a follow-up tied to it. Second, subject tests cover DSA, DBMS and Operating Systems. Multiple-choice and code-output marks come from published keys; an AI-marked short answer stays provisional until review. Third, the English module starts with self-introduction. It records audio, transcribes it locally and gives feedback on the confirmed text. It does not claim to measure pronunciation from that transcript. Source: project report, pages 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1:40–2:20. A practical demo starts with a five-question DSA test. The student selects a topic and difficulty, saves answers, and submits before the backend deadline. The app then shows a report with reviewed explanations. That completed activity updates the Test module and can change a recommendation. Five questions is deliberate: the current starter bank has five selectable questions per subject and difficulty, so longer tests need more reviewed content. Source: project report, pages 5, 7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 For an open interview answer, the laptop runs Qwen3 through Ollama. The model returns ratings from zero to four for fixed rubric dimensions, plus feedback and evidence copied from the answer. The backend checks the response and computes the total. In this technical example, weighted ratings of four, two, three and four give 80 out of 100. We recently made the rubric more lenient: a relevant, understandable interview answer gets at least ten points through relevance, while correctness and reasoning remain separately rated. Unrelated or unintelligible answers stay unscored. If AI fails, the answer is saved for retry rather than shown as a false zero. Source: project report, page 9; current docs/SCORING-API.md and backend-python/app/ai.py.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3:10–4:00. The native Android app is built in Java and XML. Room stores device drafts and cached reports. The Python FastAPI service on the laptop is authoritative: it owns accounts, deadlines, accepted answers, scoring and ownership checks. PostgreSQL stores content, attempts and jobs. Ollama handles local text evaluation, and whisper.cpp handles recorded speech transcription. Recordings stay in private laptop storage. Android Debug Bridge forwards the emulator’s port 8080 to the backend. Passwords and session tokens are hashed, and a user can access only their own attempts and media. This is a local prototype; network deployment requires HTTPS and deployment settings. Source: project report, pages 4, 11–12;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4:00–4:40. The Home screen combines eligible evidence into a practice score: forty percent interview, forty percent tests and twenty percent English. A new user sees no overall number until they have evidence from all three modules. The app also tracks topic competencies and when they were last assessed. It groups immediate retries so repeating the same prompt does not quickly inflate progress. Recommendations are simple, explainable rules: fill a missing baseline first, then suggest practice for weaker areas. Weekly completion is a separate goal metric. Source: project report,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This is a working local prototype, not yet a faculty-reviewed release. The key backend journeys and scoring rules have automated checks, and the Android app has built successfully. Before release, we need more independently reviewed questions, at least sixty reviewer-scored AI examples, and full emulator checks for recording interruptions, small screens and accessibility. Our goal is feedback students can understand and use for the next practice attempt. Source: project report, pages 13 and 15; 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3260e08c154d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0af6feb0554467" /><Relationship Type="http://schemas.openxmlformats.org/officeDocument/2006/relationships/slideLayout" Target="/ppt/slideLayouts/slideLayout1.xml" Id="R7f868fd3b06940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868fd3b06940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d1748e599a455d" /><Relationship Type="http://schemas.openxmlformats.org/officeDocument/2006/relationships/notesSlide" Target="/ppt/notesSlides/notesSlide1.xml" Id="Rae4d4d191c1a41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102d2e1aec46f5" /><Relationship Type="http://schemas.openxmlformats.org/officeDocument/2006/relationships/notesSlide" Target="/ppt/notesSlides/notesSlide2.xml" Id="Reb570c3b88f140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afc45e9f1541d1" /><Relationship Type="http://schemas.openxmlformats.org/officeDocument/2006/relationships/notesSlide" Target="/ppt/notesSlides/notesSlide3.xml" Id="Raed0141f901b46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3ed65d79774118" /><Relationship Type="http://schemas.openxmlformats.org/officeDocument/2006/relationships/notesSlide" Target="/ppt/notesSlides/notesSlide4.xml" Id="R63f0e0a3214a48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5b10849a66447d" /><Relationship Type="http://schemas.openxmlformats.org/officeDocument/2006/relationships/notesSlide" Target="/ppt/notesSlides/notesSlide5.xml" Id="R7d0abf1039ef4e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6986e67c1e4c19" /><Relationship Type="http://schemas.openxmlformats.org/officeDocument/2006/relationships/notesSlide" Target="/ppt/notesSlides/notesSlide6.xml" Id="R44c2fe1c2bed47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d4a2bed1ef4725" /><Relationship Type="http://schemas.openxmlformats.org/officeDocument/2006/relationships/notesSlide" Target="/ppt/notesSlides/notesSlide7.xml" Id="Rc8cada25538b47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de3d5d79c24ff8" /><Relationship Type="http://schemas.openxmlformats.org/officeDocument/2006/relationships/notesSlide" Target="/ppt/notesSlides/notesSlide8.xml" Id="Red995d036229486d" /></Relationships>
</file>

<file path=ppt/slides/slide1.xml><?xml version="1.0" encoding="utf-8"?>
<p:sld xmlns:p="http://schemas.openxmlformats.org/presentationml/2006/main">
  <p:cSld>
    <p:bg>
      <p:bgPr>
        <a:solidFill xmlns:a="http://schemas.openxmlformats.org/drawingml/2006/main">
          <a:srgbClr val="112B3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4D5832-4F3D-47C2-A111-235BE9A95ADB}"/>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FD8C6"/>
                </a:solidFill>
                <a:latin typeface="Arial"/>
                <a:ea typeface="Arial"/>
                <a:cs typeface="Arial"/>
              </a:defRPr>
            </a:pPr>
            <a:r>
              <a:rPr sz="1200" b="0">
                <a:solidFill>
                  <a:srgbClr val="8FD8C6"/>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EAF68BAC-9852-483E-896F-E19CBA79DB7E}"/>
              </a:ext>
            </a:extLst>
          </p:cNvPr>
          <p:cNvSpPr>
            <a:spLocks xmlns:a="http://schemas.openxmlformats.org/drawingml/2006/main" noGrp="1"/>
          </p:cNvSpPr>
          <p:nvPr/>
        </p:nvSpPr>
        <p:spPr>
          <a:xfrm xmlns:a="http://schemas.openxmlformats.org/drawingml/2006/main">
            <a:off x="714375" y="18478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InterviewEdge</a:t>
            </a:r>
          </a:p>
        </p:txBody>
      </p:sp>
      <p:sp>
        <p:nvSpPr>
          <p:cNvPr id="3" name="">
            <a:extLst xmlns:a="http://schemas.openxmlformats.org/drawingml/2006/main">
              <a:ext uri="{FF2B5EF4-FFF2-40B4-BE49-F238E27FC236}">
                <a16:creationId xmlns:a16="http://schemas.microsoft.com/office/drawing/2014/main" id="{84760C46-4746-4D94-AB76-FFD7846D8019}"/>
              </a:ext>
            </a:extLst>
          </p:cNvPr>
          <p:cNvSpPr>
            <a:spLocks xmlns:a="http://schemas.openxmlformats.org/drawingml/2006/main" noGrp="1"/>
          </p:cNvSpPr>
          <p:nvPr/>
        </p:nvSpPr>
        <p:spPr>
          <a:xfrm xmlns:a="http://schemas.openxmlformats.org/drawingml/2006/main">
            <a:off x="752475" y="3028950"/>
            <a:ext cx="1000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8FD8C6"/>
                </a:solidFill>
                <a:latin typeface="Arial"/>
                <a:ea typeface="Arial"/>
                <a:cs typeface="Arial"/>
              </a:defRPr>
            </a:pPr>
            <a:r>
              <a:rPr sz="2400" b="0">
                <a:solidFill>
                  <a:srgbClr val="8FD8C6"/>
                </a:solidFill>
                <a:latin typeface="Arial"/>
                <a:ea typeface="Arial"/>
                <a:cs typeface="Arial"/>
              </a:rPr>
              <a:t>Placement practice with feedback students can act on</a:t>
            </a:r>
          </a:p>
        </p:txBody>
      </p:sp>
      <p:sp>
        <p:nvSpPr>
          <p:cNvPr id="4" name="">
            <a:extLst xmlns:a="http://schemas.openxmlformats.org/drawingml/2006/main">
              <a:ext uri="{FF2B5EF4-FFF2-40B4-BE49-F238E27FC236}">
                <a16:creationId xmlns:a16="http://schemas.microsoft.com/office/drawing/2014/main" id="{E7767D56-163F-4678-B5BE-A84E5DCAF6DC}"/>
              </a:ext>
            </a:extLst>
          </p:cNvPr>
          <p:cNvSpPr>
            <a:spLocks xmlns:a="http://schemas.openxmlformats.org/drawingml/2006/main" noGrp="1"/>
          </p:cNvSpPr>
          <p:nvPr/>
        </p:nvSpPr>
        <p:spPr>
          <a:xfrm xmlns:a="http://schemas.openxmlformats.org/drawingml/2006/main">
            <a:off x="752475" y="5524500"/>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Faculty project presentation  ·  7 October 2026</a:t>
            </a:r>
          </a:p>
        </p:txBody>
      </p:sp>
    </p:spTree>
    <p:extLst>
      <p:ext uri="{BB962C8B-B14F-4D97-AF65-F5344CB8AC3E}">
        <p14:creationId xmlns:p14="http://schemas.microsoft.com/office/powerpoint/2010/main" val="366140024"/>
      </p:ext>
    </p:extLst>
  </p:cSld>
</p:sld>
</file>

<file path=ppt/slides/slide2.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1DF6A6-0FA3-4BB9-BCE9-08A3A0C0806A}"/>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The student problem</a:t>
            </a:r>
          </a:p>
        </p:txBody>
      </p:sp>
      <p:sp>
        <p:nvSpPr>
          <p:cNvPr id="2" name="">
            <a:extLst xmlns:a="http://schemas.openxmlformats.org/drawingml/2006/main">
              <a:ext uri="{FF2B5EF4-FFF2-40B4-BE49-F238E27FC236}">
                <a16:creationId xmlns:a16="http://schemas.microsoft.com/office/drawing/2014/main" id="{025B9F67-C5FC-400B-9B9C-1E3998FC4153}"/>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A3F4334-E828-48DA-979C-C23B42A5529F}"/>
              </a:ext>
            </a:extLst>
          </p:cNvPr>
          <p:cNvSpPr>
            <a:spLocks xmlns:a="http://schemas.openxmlformats.org/drawingml/2006/main" noGrp="1"/>
          </p:cNvSpPr>
          <p:nvPr/>
        </p:nvSpPr>
        <p:spPr>
          <a:xfrm xmlns:a="http://schemas.openxmlformats.org/drawingml/2006/main">
            <a:off x="704850" y="160020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86F"/>
                </a:solidFill>
                <a:latin typeface="Arial"/>
                <a:ea typeface="Arial"/>
                <a:cs typeface="Arial"/>
              </a:defRPr>
            </a:pPr>
            <a:r>
              <a:rPr sz="2700" b="1">
                <a:solidFill>
                  <a:srgbClr val="00786F"/>
                </a:solidFill>
                <a:latin typeface="Arial"/>
                <a:ea typeface="Arial"/>
                <a:cs typeface="Arial"/>
              </a:rPr>
              <a:t>Practice is scattered</a:t>
            </a:r>
          </a:p>
        </p:txBody>
      </p:sp>
      <p:sp>
        <p:nvSpPr>
          <p:cNvPr id="4" name="">
            <a:extLst xmlns:a="http://schemas.openxmlformats.org/drawingml/2006/main">
              <a:ext uri="{FF2B5EF4-FFF2-40B4-BE49-F238E27FC236}">
                <a16:creationId xmlns:a16="http://schemas.microsoft.com/office/drawing/2014/main" id="{0839B90B-0B85-43B6-9B21-A1E42BFB47F5}"/>
              </a:ext>
            </a:extLst>
          </p:cNvPr>
          <p:cNvSpPr>
            <a:spLocks xmlns:a="http://schemas.openxmlformats.org/drawingml/2006/main" noGrp="1"/>
          </p:cNvSpPr>
          <p:nvPr/>
        </p:nvSpPr>
        <p:spPr>
          <a:xfrm xmlns:a="http://schemas.openxmlformats.org/drawingml/2006/main">
            <a:off x="704850" y="25717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An interview answer, a DBMS test and a spoken introduction are often judged in separate tools.</a:t>
            </a:r>
          </a:p>
        </p:txBody>
      </p:sp>
      <p:sp>
        <p:nvSpPr>
          <p:cNvPr id="5" name="">
            <a:extLst xmlns:a="http://schemas.openxmlformats.org/drawingml/2006/main">
              <a:ext uri="{FF2B5EF4-FFF2-40B4-BE49-F238E27FC236}">
                <a16:creationId xmlns:a16="http://schemas.microsoft.com/office/drawing/2014/main" id="{42792D24-A471-40C9-9B95-190CAAD14603}"/>
              </a:ext>
            </a:extLst>
          </p:cNvPr>
          <p:cNvSpPr>
            <a:spLocks xmlns:a="http://schemas.openxmlformats.org/drawingml/2006/main" noGrp="1"/>
          </p:cNvSpPr>
          <p:nvPr/>
        </p:nvSpPr>
        <p:spPr>
          <a:xfrm xmlns:a="http://schemas.openxmlformats.org/drawingml/2006/main">
            <a:off x="6515100" y="160020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86F"/>
                </a:solidFill>
                <a:latin typeface="Arial"/>
                <a:ea typeface="Arial"/>
                <a:cs typeface="Arial"/>
              </a:defRPr>
            </a:pPr>
            <a:r>
              <a:rPr sz="2700" b="1">
                <a:solidFill>
                  <a:srgbClr val="00786F"/>
                </a:solidFill>
                <a:latin typeface="Arial"/>
                <a:ea typeface="Arial"/>
                <a:cs typeface="Arial"/>
              </a:rPr>
              <a:t>One record of progress</a:t>
            </a:r>
          </a:p>
        </p:txBody>
      </p:sp>
      <p:sp>
        <p:nvSpPr>
          <p:cNvPr id="6" name="">
            <a:extLst xmlns:a="http://schemas.openxmlformats.org/drawingml/2006/main">
              <a:ext uri="{FF2B5EF4-FFF2-40B4-BE49-F238E27FC236}">
                <a16:creationId xmlns:a16="http://schemas.microsoft.com/office/drawing/2014/main" id="{3269FB99-27E9-4D51-9CF4-000021876E88}"/>
              </a:ext>
            </a:extLst>
          </p:cNvPr>
          <p:cNvSpPr>
            <a:spLocks xmlns:a="http://schemas.openxmlformats.org/drawingml/2006/main" noGrp="1"/>
          </p:cNvSpPr>
          <p:nvPr/>
        </p:nvSpPr>
        <p:spPr>
          <a:xfrm xmlns:a="http://schemas.openxmlformats.org/drawingml/2006/main">
            <a:off x="6515100" y="25717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InterviewEdge connects those attempts to a shared competency profile and recommends the next useful activity.</a:t>
            </a:r>
          </a:p>
        </p:txBody>
      </p:sp>
      <p:sp>
        <p:nvSpPr>
          <p:cNvPr id="7" name="">
            <a:extLst xmlns:a="http://schemas.openxmlformats.org/drawingml/2006/main">
              <a:ext uri="{FF2B5EF4-FFF2-40B4-BE49-F238E27FC236}">
                <a16:creationId xmlns:a16="http://schemas.microsoft.com/office/drawing/2014/main" id="{E91FB8BF-BA56-4FB3-89CC-0314699C35FF}"/>
              </a:ext>
            </a:extLst>
          </p:cNvPr>
          <p:cNvSpPr>
            <a:spLocks xmlns:a="http://schemas.openxmlformats.org/drawingml/2006/main" noGrp="1"/>
          </p:cNvSpPr>
          <p:nvPr/>
        </p:nvSpPr>
        <p:spPr>
          <a:xfrm xmlns:a="http://schemas.openxmlformats.org/drawingml/2006/main">
            <a:off x="704850" y="54578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A6366"/>
                </a:solidFill>
                <a:latin typeface="Arial"/>
                <a:ea typeface="Arial"/>
                <a:cs typeface="Arial"/>
              </a:defRPr>
            </a:pPr>
            <a:r>
              <a:rPr sz="1650" b="0">
                <a:solidFill>
                  <a:srgbClr val="4A6366"/>
                </a:solidFill>
                <a:latin typeface="Arial"/>
                <a:ea typeface="Arial"/>
                <a:cs typeface="Arial"/>
              </a:rPr>
              <a:t>For students preparing for entry-level software roles</a:t>
            </a:r>
          </a:p>
        </p:txBody>
      </p:sp>
    </p:spTree>
    <p:extLst>
      <p:ext uri="{BB962C8B-B14F-4D97-AF65-F5344CB8AC3E}">
        <p14:creationId xmlns:p14="http://schemas.microsoft.com/office/powerpoint/2010/main" val="1708459716"/>
      </p:ext>
    </p:extLst>
  </p:cSld>
</p:sld>
</file>

<file path=ppt/slides/slide3.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ED9EED-2125-4CC9-8227-D8C0BDE10560}"/>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Three ways to practise</a:t>
            </a:r>
          </a:p>
        </p:txBody>
      </p:sp>
      <p:sp>
        <p:nvSpPr>
          <p:cNvPr id="2" name="">
            <a:extLst xmlns:a="http://schemas.openxmlformats.org/drawingml/2006/main">
              <a:ext uri="{FF2B5EF4-FFF2-40B4-BE49-F238E27FC236}">
                <a16:creationId xmlns:a16="http://schemas.microsoft.com/office/drawing/2014/main" id="{47187FA7-15D0-40B0-84DF-9FA2DB6BA200}"/>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E74902D-9028-4F53-A376-0391BBBCCEDF}"/>
              </a:ext>
            </a:extLst>
          </p:cNvPr>
          <p:cNvSpPr>
            <a:spLocks xmlns:a="http://schemas.openxmlformats.org/drawingml/2006/main" noGrp="1"/>
          </p:cNvSpPr>
          <p:nvPr/>
        </p:nvSpPr>
        <p:spPr>
          <a:xfrm xmlns:a="http://schemas.openxmlformats.org/drawingml/2006/main">
            <a:off x="723900" y="15716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86F"/>
                </a:solidFill>
                <a:latin typeface="Arial"/>
                <a:ea typeface="Arial"/>
                <a:cs typeface="Arial"/>
              </a:defRPr>
            </a:pPr>
            <a:r>
              <a:rPr sz="3000" b="1">
                <a:solidFill>
                  <a:srgbClr val="00786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EA7B98E-E66B-40D9-B427-D30991C39109}"/>
              </a:ext>
            </a:extLst>
          </p:cNvPr>
          <p:cNvSpPr>
            <a:spLocks xmlns:a="http://schemas.openxmlformats.org/drawingml/2006/main" noGrp="1"/>
          </p:cNvSpPr>
          <p:nvPr/>
        </p:nvSpPr>
        <p:spPr>
          <a:xfrm xmlns:a="http://schemas.openxmlformats.org/drawingml/2006/main">
            <a:off x="1924050" y="15716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Mock interviews</a:t>
            </a:r>
          </a:p>
        </p:txBody>
      </p:sp>
      <p:sp>
        <p:nvSpPr>
          <p:cNvPr id="5" name="">
            <a:extLst xmlns:a="http://schemas.openxmlformats.org/drawingml/2006/main">
              <a:ext uri="{FF2B5EF4-FFF2-40B4-BE49-F238E27FC236}">
                <a16:creationId xmlns:a16="http://schemas.microsoft.com/office/drawing/2014/main" id="{D91F8EA6-81BC-4423-B2F4-FC71B81804F5}"/>
              </a:ext>
            </a:extLst>
          </p:cNvPr>
          <p:cNvSpPr>
            <a:spLocks xmlns:a="http://schemas.openxmlformats.org/drawingml/2006/main" noGrp="1"/>
          </p:cNvSpPr>
          <p:nvPr/>
        </p:nvSpPr>
        <p:spPr>
          <a:xfrm xmlns:a="http://schemas.openxmlformats.org/drawingml/2006/main">
            <a:off x="5543550" y="1590675"/>
            <a:ext cx="5762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Technical, HR or mixed questions. Students type or record answers, then receive follow-ups and an answer-level report.</a:t>
            </a:r>
          </a:p>
        </p:txBody>
      </p:sp>
      <p:sp>
        <p:nvSpPr>
          <p:cNvPr id="6" name="">
            <a:extLst xmlns:a="http://schemas.openxmlformats.org/drawingml/2006/main">
              <a:ext uri="{FF2B5EF4-FFF2-40B4-BE49-F238E27FC236}">
                <a16:creationId xmlns:a16="http://schemas.microsoft.com/office/drawing/2014/main" id="{6B1A1B86-C924-496C-85E0-8A0560EFB0E6}"/>
              </a:ext>
            </a:extLst>
          </p:cNvPr>
          <p:cNvSpPr>
            <a:spLocks xmlns:a="http://schemas.openxmlformats.org/drawingml/2006/main" noGrp="1"/>
          </p:cNvSpPr>
          <p:nvPr/>
        </p:nvSpPr>
        <p:spPr>
          <a:xfrm xmlns:a="http://schemas.openxmlformats.org/drawingml/2006/main">
            <a:off x="723900" y="31242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86F"/>
                </a:solidFill>
                <a:latin typeface="Arial"/>
                <a:ea typeface="Arial"/>
                <a:cs typeface="Arial"/>
              </a:defRPr>
            </a:pPr>
            <a:r>
              <a:rPr sz="3000" b="1">
                <a:solidFill>
                  <a:srgbClr val="00786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D4E8621-C11A-40E6-B79B-CAE80102908E}"/>
              </a:ext>
            </a:extLst>
          </p:cNvPr>
          <p:cNvSpPr>
            <a:spLocks xmlns:a="http://schemas.openxmlformats.org/drawingml/2006/main" noGrp="1"/>
          </p:cNvSpPr>
          <p:nvPr/>
        </p:nvSpPr>
        <p:spPr>
          <a:xfrm xmlns:a="http://schemas.openxmlformats.org/drawingml/2006/main">
            <a:off x="1924050" y="31242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Subject tests</a:t>
            </a:r>
          </a:p>
        </p:txBody>
      </p:sp>
      <p:sp>
        <p:nvSpPr>
          <p:cNvPr id="8" name="">
            <a:extLst xmlns:a="http://schemas.openxmlformats.org/drawingml/2006/main">
              <a:ext uri="{FF2B5EF4-FFF2-40B4-BE49-F238E27FC236}">
                <a16:creationId xmlns:a16="http://schemas.microsoft.com/office/drawing/2014/main" id="{F1AA8A8D-ABCB-45C5-9174-C4766F2ACEC4}"/>
              </a:ext>
            </a:extLst>
          </p:cNvPr>
          <p:cNvSpPr>
            <a:spLocks xmlns:a="http://schemas.openxmlformats.org/drawingml/2006/main" noGrp="1"/>
          </p:cNvSpPr>
          <p:nvPr/>
        </p:nvSpPr>
        <p:spPr>
          <a:xfrm xmlns:a="http://schemas.openxmlformats.org/drawingml/2006/main">
            <a:off x="5543550" y="3143250"/>
            <a:ext cx="5762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DSA, DBMS and Operating Systems. Objective items use published answer keys; short answers enter a review workflow.</a:t>
            </a:r>
          </a:p>
        </p:txBody>
      </p:sp>
      <p:sp>
        <p:nvSpPr>
          <p:cNvPr id="9" name="">
            <a:extLst xmlns:a="http://schemas.openxmlformats.org/drawingml/2006/main">
              <a:ext uri="{FF2B5EF4-FFF2-40B4-BE49-F238E27FC236}">
                <a16:creationId xmlns:a16="http://schemas.microsoft.com/office/drawing/2014/main" id="{E817FCDF-5F8A-429A-8C9A-58E162794B37}"/>
              </a:ext>
            </a:extLst>
          </p:cNvPr>
          <p:cNvSpPr>
            <a:spLocks xmlns:a="http://schemas.openxmlformats.org/drawingml/2006/main" noGrp="1"/>
          </p:cNvSpPr>
          <p:nvPr/>
        </p:nvSpPr>
        <p:spPr>
          <a:xfrm xmlns:a="http://schemas.openxmlformats.org/drawingml/2006/main">
            <a:off x="723900" y="467677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86F"/>
                </a:solidFill>
                <a:latin typeface="Arial"/>
                <a:ea typeface="Arial"/>
                <a:cs typeface="Arial"/>
              </a:defRPr>
            </a:pPr>
            <a:r>
              <a:rPr sz="3000" b="1">
                <a:solidFill>
                  <a:srgbClr val="00786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6AEEC7E-C3F0-4819-B0F7-625B208624C7}"/>
              </a:ext>
            </a:extLst>
          </p:cNvPr>
          <p:cNvSpPr>
            <a:spLocks xmlns:a="http://schemas.openxmlformats.org/drawingml/2006/main" noGrp="1"/>
          </p:cNvSpPr>
          <p:nvPr/>
        </p:nvSpPr>
        <p:spPr>
          <a:xfrm xmlns:a="http://schemas.openxmlformats.org/drawingml/2006/main">
            <a:off x="1924050" y="46767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Speaking practice</a:t>
            </a:r>
          </a:p>
        </p:txBody>
      </p:sp>
      <p:sp>
        <p:nvSpPr>
          <p:cNvPr id="11" name="">
            <a:extLst xmlns:a="http://schemas.openxmlformats.org/drawingml/2006/main">
              <a:ext uri="{FF2B5EF4-FFF2-40B4-BE49-F238E27FC236}">
                <a16:creationId xmlns:a16="http://schemas.microsoft.com/office/drawing/2014/main" id="{541C1F44-A049-4A40-8BA3-4B40EB078664}"/>
              </a:ext>
            </a:extLst>
          </p:cNvPr>
          <p:cNvSpPr>
            <a:spLocks xmlns:a="http://schemas.openxmlformats.org/drawingml/2006/main" noGrp="1"/>
          </p:cNvSpPr>
          <p:nvPr/>
        </p:nvSpPr>
        <p:spPr>
          <a:xfrm xmlns:a="http://schemas.openxmlformats.org/drawingml/2006/main">
            <a:off x="5543550" y="4695825"/>
            <a:ext cx="5762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Record a self-introduction, review its transcript, receive text-based feedback and compare a retry.</a:t>
            </a:r>
          </a:p>
        </p:txBody>
      </p:sp>
    </p:spTree>
    <p:extLst>
      <p:ext uri="{BB962C8B-B14F-4D97-AF65-F5344CB8AC3E}">
        <p14:creationId xmlns:p14="http://schemas.microsoft.com/office/powerpoint/2010/main" val="372269516"/>
      </p:ext>
    </p:extLst>
  </p:cSld>
</p:sld>
</file>

<file path=ppt/slides/slide4.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BADADE-9B20-498E-B60B-DAB37703ADA4}"/>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A student journey</a:t>
            </a:r>
          </a:p>
        </p:txBody>
      </p:sp>
      <p:sp>
        <p:nvSpPr>
          <p:cNvPr id="2" name="">
            <a:extLst xmlns:a="http://schemas.openxmlformats.org/drawingml/2006/main">
              <a:ext uri="{FF2B5EF4-FFF2-40B4-BE49-F238E27FC236}">
                <a16:creationId xmlns:a16="http://schemas.microsoft.com/office/drawing/2014/main" id="{6B9207C7-1660-4E55-A118-C791BB728D38}"/>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49A6F3C8-8BAA-42C2-84FE-33C64C4A2F13}"/>
              </a:ext>
            </a:extLst>
          </p:cNvPr>
          <p:cNvSpPr>
            <a:spLocks xmlns:a="http://schemas.openxmlformats.org/drawingml/2006/main" noGrp="1"/>
          </p:cNvSpPr>
          <p:nvPr/>
        </p:nvSpPr>
        <p:spPr>
          <a:xfrm xmlns:a="http://schemas.openxmlformats.org/drawingml/2006/main">
            <a:off x="723900" y="1524000"/>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48894D63-73D9-49EE-80A3-3AD1469BAEF5}"/>
              </a:ext>
            </a:extLst>
          </p:cNvPr>
          <p:cNvSpPr>
            <a:spLocks xmlns:a="http://schemas.openxmlformats.org/drawingml/2006/main" noGrp="1"/>
          </p:cNvSpPr>
          <p:nvPr/>
        </p:nvSpPr>
        <p:spPr>
          <a:xfrm xmlns:a="http://schemas.openxmlformats.org/drawingml/2006/main">
            <a:off x="1571625" y="15240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Choose</a:t>
            </a:r>
          </a:p>
        </p:txBody>
      </p:sp>
      <p:sp>
        <p:nvSpPr>
          <p:cNvPr id="5" name="">
            <a:extLst xmlns:a="http://schemas.openxmlformats.org/drawingml/2006/main">
              <a:ext uri="{FF2B5EF4-FFF2-40B4-BE49-F238E27FC236}">
                <a16:creationId xmlns:a16="http://schemas.microsoft.com/office/drawing/2014/main" id="{4569C9F7-BDC1-4C55-87DF-403AFE011F4E}"/>
              </a:ext>
            </a:extLst>
          </p:cNvPr>
          <p:cNvSpPr>
            <a:spLocks xmlns:a="http://schemas.openxmlformats.org/drawingml/2006/main" noGrp="1"/>
          </p:cNvSpPr>
          <p:nvPr/>
        </p:nvSpPr>
        <p:spPr>
          <a:xfrm xmlns:a="http://schemas.openxmlformats.org/drawingml/2006/main">
            <a:off x="4333875" y="1552575"/>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Select a five-question DSA test</a:t>
            </a:r>
          </a:p>
        </p:txBody>
      </p:sp>
      <p:sp>
        <p:nvSpPr>
          <p:cNvPr id="6" name="">
            <a:extLst xmlns:a="http://schemas.openxmlformats.org/drawingml/2006/main">
              <a:ext uri="{FF2B5EF4-FFF2-40B4-BE49-F238E27FC236}">
                <a16:creationId xmlns:a16="http://schemas.microsoft.com/office/drawing/2014/main" id="{5CE4D3AC-AB31-4584-8DB7-04785B511F7B}"/>
              </a:ext>
            </a:extLst>
          </p:cNvPr>
          <p:cNvSpPr>
            <a:spLocks xmlns:a="http://schemas.openxmlformats.org/drawingml/2006/main" noGrp="1"/>
          </p:cNvSpPr>
          <p:nvPr/>
        </p:nvSpPr>
        <p:spPr>
          <a:xfrm xmlns:a="http://schemas.openxmlformats.org/drawingml/2006/main">
            <a:off x="723900" y="2657475"/>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812ED9BC-6B7C-458E-9981-347863849262}"/>
              </a:ext>
            </a:extLst>
          </p:cNvPr>
          <p:cNvSpPr>
            <a:spLocks xmlns:a="http://schemas.openxmlformats.org/drawingml/2006/main" noGrp="1"/>
          </p:cNvSpPr>
          <p:nvPr/>
        </p:nvSpPr>
        <p:spPr>
          <a:xfrm xmlns:a="http://schemas.openxmlformats.org/drawingml/2006/main">
            <a:off x="1571625" y="265747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Answer</a:t>
            </a:r>
          </a:p>
        </p:txBody>
      </p:sp>
      <p:sp>
        <p:nvSpPr>
          <p:cNvPr id="8" name="">
            <a:extLst xmlns:a="http://schemas.openxmlformats.org/drawingml/2006/main">
              <a:ext uri="{FF2B5EF4-FFF2-40B4-BE49-F238E27FC236}">
                <a16:creationId xmlns:a16="http://schemas.microsoft.com/office/drawing/2014/main" id="{06EA9598-FD10-4E54-B4B9-5B15AFD799EB}"/>
              </a:ext>
            </a:extLst>
          </p:cNvPr>
          <p:cNvSpPr>
            <a:spLocks xmlns:a="http://schemas.openxmlformats.org/drawingml/2006/main" noGrp="1"/>
          </p:cNvSpPr>
          <p:nvPr/>
        </p:nvSpPr>
        <p:spPr>
          <a:xfrm xmlns:a="http://schemas.openxmlformats.org/drawingml/2006/main">
            <a:off x="4333875" y="2686050"/>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Save responses under a server deadline</a:t>
            </a:r>
          </a:p>
        </p:txBody>
      </p:sp>
      <p:sp>
        <p:nvSpPr>
          <p:cNvPr id="9" name="">
            <a:extLst xmlns:a="http://schemas.openxmlformats.org/drawingml/2006/main">
              <a:ext uri="{FF2B5EF4-FFF2-40B4-BE49-F238E27FC236}">
                <a16:creationId xmlns:a16="http://schemas.microsoft.com/office/drawing/2014/main" id="{58A83AC4-227D-4C1C-8A83-E0C9E4B85633}"/>
              </a:ext>
            </a:extLst>
          </p:cNvPr>
          <p:cNvSpPr>
            <a:spLocks xmlns:a="http://schemas.openxmlformats.org/drawingml/2006/main" noGrp="1"/>
          </p:cNvSpPr>
          <p:nvPr/>
        </p:nvSpPr>
        <p:spPr>
          <a:xfrm xmlns:a="http://schemas.openxmlformats.org/drawingml/2006/main">
            <a:off x="723900" y="3790950"/>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222A4E1B-DAB9-478A-ABAC-D7BE928E00ED}"/>
              </a:ext>
            </a:extLst>
          </p:cNvPr>
          <p:cNvSpPr>
            <a:spLocks xmlns:a="http://schemas.openxmlformats.org/drawingml/2006/main" noGrp="1"/>
          </p:cNvSpPr>
          <p:nvPr/>
        </p:nvSpPr>
        <p:spPr>
          <a:xfrm xmlns:a="http://schemas.openxmlformats.org/drawingml/2006/main">
            <a:off x="1571625" y="379095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Review</a:t>
            </a:r>
          </a:p>
        </p:txBody>
      </p:sp>
      <p:sp>
        <p:nvSpPr>
          <p:cNvPr id="11" name="">
            <a:extLst xmlns:a="http://schemas.openxmlformats.org/drawingml/2006/main">
              <a:ext uri="{FF2B5EF4-FFF2-40B4-BE49-F238E27FC236}">
                <a16:creationId xmlns:a16="http://schemas.microsoft.com/office/drawing/2014/main" id="{CFC94305-EC46-4E4F-8396-5BB7CB97F417}"/>
              </a:ext>
            </a:extLst>
          </p:cNvPr>
          <p:cNvSpPr>
            <a:spLocks xmlns:a="http://schemas.openxmlformats.org/drawingml/2006/main" noGrp="1"/>
          </p:cNvSpPr>
          <p:nvPr/>
        </p:nvSpPr>
        <p:spPr>
          <a:xfrm xmlns:a="http://schemas.openxmlformats.org/drawingml/2006/main">
            <a:off x="4333875" y="3819525"/>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See marks and checked explanations</a:t>
            </a:r>
          </a:p>
        </p:txBody>
      </p:sp>
      <p:sp>
        <p:nvSpPr>
          <p:cNvPr id="12" name="">
            <a:extLst xmlns:a="http://schemas.openxmlformats.org/drawingml/2006/main">
              <a:ext uri="{FF2B5EF4-FFF2-40B4-BE49-F238E27FC236}">
                <a16:creationId xmlns:a16="http://schemas.microsoft.com/office/drawing/2014/main" id="{665FFC24-DDA8-4BCC-B0EE-9A9F1BDFE7CF}"/>
              </a:ext>
            </a:extLst>
          </p:cNvPr>
          <p:cNvSpPr>
            <a:spLocks xmlns:a="http://schemas.openxmlformats.org/drawingml/2006/main" noGrp="1"/>
          </p:cNvSpPr>
          <p:nvPr/>
        </p:nvSpPr>
        <p:spPr>
          <a:xfrm xmlns:a="http://schemas.openxmlformats.org/drawingml/2006/main">
            <a:off x="723900" y="4924425"/>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73815CD5-1425-41BB-BC13-465763EFD1D7}"/>
              </a:ext>
            </a:extLst>
          </p:cNvPr>
          <p:cNvSpPr>
            <a:spLocks xmlns:a="http://schemas.openxmlformats.org/drawingml/2006/main" noGrp="1"/>
          </p:cNvSpPr>
          <p:nvPr/>
        </p:nvSpPr>
        <p:spPr>
          <a:xfrm xmlns:a="http://schemas.openxmlformats.org/drawingml/2006/main">
            <a:off x="1571625" y="49244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Improve</a:t>
            </a:r>
          </a:p>
        </p:txBody>
      </p:sp>
      <p:sp>
        <p:nvSpPr>
          <p:cNvPr id="14" name="">
            <a:extLst xmlns:a="http://schemas.openxmlformats.org/drawingml/2006/main">
              <a:ext uri="{FF2B5EF4-FFF2-40B4-BE49-F238E27FC236}">
                <a16:creationId xmlns:a16="http://schemas.microsoft.com/office/drawing/2014/main" id="{29C3E931-2622-40B0-BC85-FA885495D58F}"/>
              </a:ext>
            </a:extLst>
          </p:cNvPr>
          <p:cNvSpPr>
            <a:spLocks xmlns:a="http://schemas.openxmlformats.org/drawingml/2006/main" noGrp="1"/>
          </p:cNvSpPr>
          <p:nvPr/>
        </p:nvSpPr>
        <p:spPr>
          <a:xfrm xmlns:a="http://schemas.openxmlformats.org/drawingml/2006/main">
            <a:off x="4333875" y="4953000"/>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Open progress and the next suggestion</a:t>
            </a:r>
          </a:p>
        </p:txBody>
      </p:sp>
    </p:spTree>
    <p:extLst>
      <p:ext uri="{BB962C8B-B14F-4D97-AF65-F5344CB8AC3E}">
        <p14:creationId xmlns:p14="http://schemas.microsoft.com/office/powerpoint/2010/main" val="2141987863"/>
      </p:ext>
    </p:extLst>
  </p:cSld>
</p:sld>
</file>

<file path=ppt/slides/slide5.xml><?xml version="1.0" encoding="utf-8"?>
<p:sld xmlns:p="http://schemas.openxmlformats.org/presentationml/2006/main">
  <p:cSld>
    <p:bg>
      <p:bgPr>
        <a:solidFill xmlns:a="http://schemas.openxmlformats.org/drawingml/2006/main">
          <a:srgbClr val="112B3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7842A4-0E8C-4885-840A-C2E7CFBFAB05}"/>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How interview scoring works</a:t>
            </a:r>
          </a:p>
        </p:txBody>
      </p:sp>
      <p:sp>
        <p:nvSpPr>
          <p:cNvPr id="2" name="">
            <a:extLst xmlns:a="http://schemas.openxmlformats.org/drawingml/2006/main">
              <a:ext uri="{FF2B5EF4-FFF2-40B4-BE49-F238E27FC236}">
                <a16:creationId xmlns:a16="http://schemas.microsoft.com/office/drawing/2014/main" id="{4FD968E8-5087-4D4B-876F-7568F0F00271}"/>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FD8C6"/>
                </a:solidFill>
                <a:latin typeface="Arial"/>
                <a:ea typeface="Arial"/>
                <a:cs typeface="Arial"/>
              </a:defRPr>
            </a:pPr>
            <a:r>
              <a:rPr sz="1200" b="0">
                <a:solidFill>
                  <a:srgbClr val="8FD8C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64A3EE7-F8F9-4E5D-B1C7-E9760B62F2A0}"/>
              </a:ext>
            </a:extLst>
          </p:cNvPr>
          <p:cNvSpPr>
            <a:spLocks xmlns:a="http://schemas.openxmlformats.org/drawingml/2006/main" noGrp="1"/>
          </p:cNvSpPr>
          <p:nvPr/>
        </p:nvSpPr>
        <p:spPr>
          <a:xfrm xmlns:a="http://schemas.openxmlformats.org/drawingml/2006/main">
            <a:off x="723900" y="1657350"/>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D8C6"/>
                </a:solidFill>
                <a:latin typeface="Arial"/>
                <a:ea typeface="Arial"/>
                <a:cs typeface="Arial"/>
              </a:defRPr>
            </a:pPr>
            <a:r>
              <a:rPr sz="2175" b="1">
                <a:solidFill>
                  <a:srgbClr val="8FD8C6"/>
                </a:solidFill>
                <a:latin typeface="Arial"/>
                <a:ea typeface="Arial"/>
                <a:cs typeface="Arial"/>
              </a:rPr>
              <a:t>Student answer</a:t>
            </a:r>
          </a:p>
        </p:txBody>
      </p:sp>
      <p:sp>
        <p:nvSpPr>
          <p:cNvPr id="4" name="">
            <a:extLst xmlns:a="http://schemas.openxmlformats.org/drawingml/2006/main">
              <a:ext uri="{FF2B5EF4-FFF2-40B4-BE49-F238E27FC236}">
                <a16:creationId xmlns:a16="http://schemas.microsoft.com/office/drawing/2014/main" id="{B050D749-E1CA-4137-ACFF-3085C64339F9}"/>
              </a:ext>
            </a:extLst>
          </p:cNvPr>
          <p:cNvSpPr>
            <a:spLocks xmlns:a="http://schemas.openxmlformats.org/drawingml/2006/main" noGrp="1"/>
          </p:cNvSpPr>
          <p:nvPr/>
        </p:nvSpPr>
        <p:spPr>
          <a:xfrm xmlns:a="http://schemas.openxmlformats.org/drawingml/2006/main">
            <a:off x="3781425" y="1657350"/>
            <a:ext cx="4048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D8C6"/>
                </a:solidFill>
                <a:latin typeface="Arial"/>
                <a:ea typeface="Arial"/>
                <a:cs typeface="Arial"/>
              </a:defRPr>
            </a:pPr>
            <a:r>
              <a:rPr sz="2175" b="1">
                <a:solidFill>
                  <a:srgbClr val="8FD8C6"/>
                </a:solidFill>
                <a:latin typeface="Arial"/>
                <a:ea typeface="Arial"/>
                <a:cs typeface="Arial"/>
              </a:rPr>
              <a:t>Local AI rates the rubric</a:t>
            </a:r>
          </a:p>
        </p:txBody>
      </p:sp>
      <p:sp>
        <p:nvSpPr>
          <p:cNvPr id="5" name="">
            <a:extLst xmlns:a="http://schemas.openxmlformats.org/drawingml/2006/main">
              <a:ext uri="{FF2B5EF4-FFF2-40B4-BE49-F238E27FC236}">
                <a16:creationId xmlns:a16="http://schemas.microsoft.com/office/drawing/2014/main" id="{FD46F11A-72F8-431A-A291-63169EEC61E9}"/>
              </a:ext>
            </a:extLst>
          </p:cNvPr>
          <p:cNvSpPr>
            <a:spLocks xmlns:a="http://schemas.openxmlformats.org/drawingml/2006/main" noGrp="1"/>
          </p:cNvSpPr>
          <p:nvPr/>
        </p:nvSpPr>
        <p:spPr>
          <a:xfrm xmlns:a="http://schemas.openxmlformats.org/drawingml/2006/main">
            <a:off x="7877175" y="1657350"/>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D8C6"/>
                </a:solidFill>
                <a:latin typeface="Arial"/>
                <a:ea typeface="Arial"/>
                <a:cs typeface="Arial"/>
              </a:defRPr>
            </a:pPr>
            <a:r>
              <a:rPr sz="2175" b="1">
                <a:solidFill>
                  <a:srgbClr val="8FD8C6"/>
                </a:solidFill>
                <a:latin typeface="Arial"/>
                <a:ea typeface="Arial"/>
                <a:cs typeface="Arial"/>
              </a:rPr>
              <a:t>Backend calculates the score</a:t>
            </a:r>
          </a:p>
        </p:txBody>
      </p:sp>
      <p:sp>
        <p:nvSpPr>
          <p:cNvPr id="6" name="">
            <a:extLst xmlns:a="http://schemas.openxmlformats.org/drawingml/2006/main">
              <a:ext uri="{FF2B5EF4-FFF2-40B4-BE49-F238E27FC236}">
                <a16:creationId xmlns:a16="http://schemas.microsoft.com/office/drawing/2014/main" id="{AD4F419C-7B7E-4602-90EF-FAA426C71EFE}"/>
              </a:ext>
            </a:extLst>
          </p:cNvPr>
          <p:cNvSpPr>
            <a:spLocks xmlns:a="http://schemas.openxmlformats.org/drawingml/2006/main" noGrp="1"/>
          </p:cNvSpPr>
          <p:nvPr/>
        </p:nvSpPr>
        <p:spPr>
          <a:xfrm xmlns:a="http://schemas.openxmlformats.org/drawingml/2006/main">
            <a:off x="723900" y="30099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Technical example</a:t>
            </a:r>
          </a:p>
        </p:txBody>
      </p:sp>
      <p:sp>
        <p:nvSpPr>
          <p:cNvPr id="7" name="">
            <a:extLst xmlns:a="http://schemas.openxmlformats.org/drawingml/2006/main">
              <a:ext uri="{FF2B5EF4-FFF2-40B4-BE49-F238E27FC236}">
                <a16:creationId xmlns:a16="http://schemas.microsoft.com/office/drawing/2014/main" id="{0325812F-61B2-4C61-8000-BF64E75C458D}"/>
              </a:ext>
            </a:extLst>
          </p:cNvPr>
          <p:cNvSpPr>
            <a:spLocks xmlns:a="http://schemas.openxmlformats.org/drawingml/2006/main" noGrp="1"/>
          </p:cNvSpPr>
          <p:nvPr/>
        </p:nvSpPr>
        <p:spPr>
          <a:xfrm xmlns:a="http://schemas.openxmlformats.org/drawingml/2006/main">
            <a:off x="723900" y="3667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Correctness 4  ·  Reasoning 2  ·  Clarity 3  ·  Relevance 4</a:t>
            </a:r>
          </a:p>
        </p:txBody>
      </p:sp>
      <p:sp>
        <p:nvSpPr>
          <p:cNvPr id="8" name="">
            <a:extLst xmlns:a="http://schemas.openxmlformats.org/drawingml/2006/main">
              <a:ext uri="{FF2B5EF4-FFF2-40B4-BE49-F238E27FC236}">
                <a16:creationId xmlns:a16="http://schemas.microsoft.com/office/drawing/2014/main" id="{932A51F8-89DF-4919-A27C-0784DF95A5F1}"/>
              </a:ext>
            </a:extLst>
          </p:cNvPr>
          <p:cNvSpPr>
            <a:spLocks xmlns:a="http://schemas.openxmlformats.org/drawingml/2006/main" noGrp="1"/>
          </p:cNvSpPr>
          <p:nvPr/>
        </p:nvSpPr>
        <p:spPr>
          <a:xfrm xmlns:a="http://schemas.openxmlformats.org/drawingml/2006/main">
            <a:off x="723900" y="445770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Weighted result  =  80 / 100</a:t>
            </a:r>
          </a:p>
        </p:txBody>
      </p:sp>
      <p:sp>
        <p:nvSpPr>
          <p:cNvPr id="9" name="">
            <a:extLst xmlns:a="http://schemas.openxmlformats.org/drawingml/2006/main">
              <a:ext uri="{FF2B5EF4-FFF2-40B4-BE49-F238E27FC236}">
                <a16:creationId xmlns:a16="http://schemas.microsoft.com/office/drawing/2014/main" id="{D927E4A9-E00C-4360-93E9-D8E4B2C038DF}"/>
              </a:ext>
            </a:extLst>
          </p:cNvPr>
          <p:cNvSpPr>
            <a:spLocks xmlns:a="http://schemas.openxmlformats.org/drawingml/2006/main" noGrp="1"/>
          </p:cNvSpPr>
          <p:nvPr/>
        </p:nvSpPr>
        <p:spPr>
          <a:xfrm xmlns:a="http://schemas.openxmlformats.org/drawingml/2006/main">
            <a:off x="723900" y="55149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FD8C6"/>
                </a:solidFill>
                <a:latin typeface="Arial"/>
                <a:ea typeface="Arial"/>
                <a:cs typeface="Arial"/>
              </a:defRPr>
            </a:pPr>
            <a:r>
              <a:rPr sz="1650" b="0">
                <a:solidFill>
                  <a:srgbClr val="8FD8C6"/>
                </a:solidFill>
                <a:latin typeface="Arial"/>
                <a:ea typeface="Arial"/>
                <a:cs typeface="Arial"/>
              </a:rPr>
              <a:t>Relevant, scorable interview answers now earn at least 10 / 100.</a:t>
            </a:r>
          </a:p>
        </p:txBody>
      </p:sp>
    </p:spTree>
    <p:extLst>
      <p:ext uri="{BB962C8B-B14F-4D97-AF65-F5344CB8AC3E}">
        <p14:creationId xmlns:p14="http://schemas.microsoft.com/office/powerpoint/2010/main" val="1229114177"/>
      </p:ext>
    </p:extLst>
  </p:cSld>
</p:sld>
</file>

<file path=ppt/slides/slide6.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E36E38-953C-439A-B5C8-954AE89AA2D2}"/>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Local architecture and data</a:t>
            </a:r>
          </a:p>
        </p:txBody>
      </p:sp>
      <p:sp>
        <p:nvSpPr>
          <p:cNvPr id="2" name="">
            <a:extLst xmlns:a="http://schemas.openxmlformats.org/drawingml/2006/main">
              <a:ext uri="{FF2B5EF4-FFF2-40B4-BE49-F238E27FC236}">
                <a16:creationId xmlns:a16="http://schemas.microsoft.com/office/drawing/2014/main" id="{B0105737-DBC2-449B-B2DF-0BBC2231F76F}"/>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3AFC47D-AFDC-494E-888C-6104748C9C39}"/>
              </a:ext>
            </a:extLst>
          </p:cNvPr>
          <p:cNvSpPr>
            <a:spLocks xmlns:a="http://schemas.openxmlformats.org/drawingml/2006/main" noGrp="1"/>
          </p:cNvSpPr>
          <p:nvPr/>
        </p:nvSpPr>
        <p:spPr>
          <a:xfrm xmlns:a="http://schemas.openxmlformats.org/drawingml/2006/main">
            <a:off x="704850" y="16573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86F"/>
                </a:solidFill>
                <a:latin typeface="Arial"/>
                <a:ea typeface="Arial"/>
                <a:cs typeface="Arial"/>
              </a:defRPr>
            </a:pPr>
            <a:r>
              <a:rPr sz="2400" b="1">
                <a:solidFill>
                  <a:srgbClr val="00786F"/>
                </a:solidFill>
                <a:latin typeface="Arial"/>
                <a:ea typeface="Arial"/>
                <a:cs typeface="Arial"/>
              </a:rPr>
              <a:t>Android emulator</a:t>
            </a:r>
          </a:p>
        </p:txBody>
      </p:sp>
      <p:sp>
        <p:nvSpPr>
          <p:cNvPr id="4" name="">
            <a:extLst xmlns:a="http://schemas.openxmlformats.org/drawingml/2006/main">
              <a:ext uri="{FF2B5EF4-FFF2-40B4-BE49-F238E27FC236}">
                <a16:creationId xmlns:a16="http://schemas.microsoft.com/office/drawing/2014/main" id="{A6957943-2601-4630-81B6-E1C07E0BA113}"/>
              </a:ext>
            </a:extLst>
          </p:cNvPr>
          <p:cNvSpPr>
            <a:spLocks xmlns:a="http://schemas.openxmlformats.org/drawingml/2006/main" noGrp="1"/>
          </p:cNvSpPr>
          <p:nvPr/>
        </p:nvSpPr>
        <p:spPr>
          <a:xfrm xmlns:a="http://schemas.openxmlformats.org/drawingml/2006/main">
            <a:off x="704850" y="25050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Java screens, recording and a Room cache</a:t>
            </a:r>
          </a:p>
        </p:txBody>
      </p:sp>
      <p:sp>
        <p:nvSpPr>
          <p:cNvPr id="5" name="">
            <a:extLst xmlns:a="http://schemas.openxmlformats.org/drawingml/2006/main">
              <a:ext uri="{FF2B5EF4-FFF2-40B4-BE49-F238E27FC236}">
                <a16:creationId xmlns:a16="http://schemas.microsoft.com/office/drawing/2014/main" id="{A048C3E5-78C5-43E4-8810-CCA8772EE81D}"/>
              </a:ext>
            </a:extLst>
          </p:cNvPr>
          <p:cNvSpPr>
            <a:spLocks xmlns:a="http://schemas.openxmlformats.org/drawingml/2006/main" noGrp="1"/>
          </p:cNvSpPr>
          <p:nvPr/>
        </p:nvSpPr>
        <p:spPr>
          <a:xfrm xmlns:a="http://schemas.openxmlformats.org/drawingml/2006/main">
            <a:off x="4391025" y="16573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86F"/>
                </a:solidFill>
                <a:latin typeface="Arial"/>
                <a:ea typeface="Arial"/>
                <a:cs typeface="Arial"/>
              </a:defRPr>
            </a:pPr>
            <a:r>
              <a:rPr sz="2400" b="1">
                <a:solidFill>
                  <a:srgbClr val="00786F"/>
                </a:solidFill>
                <a:latin typeface="Arial"/>
                <a:ea typeface="Arial"/>
                <a:cs typeface="Arial"/>
              </a:rPr>
              <a:t>Python API</a:t>
            </a:r>
          </a:p>
        </p:txBody>
      </p:sp>
      <p:sp>
        <p:nvSpPr>
          <p:cNvPr id="6" name="">
            <a:extLst xmlns:a="http://schemas.openxmlformats.org/drawingml/2006/main">
              <a:ext uri="{FF2B5EF4-FFF2-40B4-BE49-F238E27FC236}">
                <a16:creationId xmlns:a16="http://schemas.microsoft.com/office/drawing/2014/main" id="{2005A4AE-9806-4C13-9C03-30C707F9DA83}"/>
              </a:ext>
            </a:extLst>
          </p:cNvPr>
          <p:cNvSpPr>
            <a:spLocks xmlns:a="http://schemas.openxmlformats.org/drawingml/2006/main" noGrp="1"/>
          </p:cNvSpPr>
          <p:nvPr/>
        </p:nvSpPr>
        <p:spPr>
          <a:xfrm xmlns:a="http://schemas.openxmlformats.org/drawingml/2006/main">
            <a:off x="4391025" y="2505075"/>
            <a:ext cx="3190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Accounts, activity rules, scores, jobs and ownership checks</a:t>
            </a:r>
          </a:p>
        </p:txBody>
      </p:sp>
      <p:sp>
        <p:nvSpPr>
          <p:cNvPr id="7" name="">
            <a:extLst xmlns:a="http://schemas.openxmlformats.org/drawingml/2006/main">
              <a:ext uri="{FF2B5EF4-FFF2-40B4-BE49-F238E27FC236}">
                <a16:creationId xmlns:a16="http://schemas.microsoft.com/office/drawing/2014/main" id="{A8EBD7DB-B891-4EC6-99C5-B0E8EA89AD4A}"/>
              </a:ext>
            </a:extLst>
          </p:cNvPr>
          <p:cNvSpPr>
            <a:spLocks xmlns:a="http://schemas.openxmlformats.org/drawingml/2006/main" noGrp="1"/>
          </p:cNvSpPr>
          <p:nvPr/>
        </p:nvSpPr>
        <p:spPr>
          <a:xfrm xmlns:a="http://schemas.openxmlformats.org/drawingml/2006/main">
            <a:off x="8010525" y="16573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86F"/>
                </a:solidFill>
                <a:latin typeface="Arial"/>
                <a:ea typeface="Arial"/>
                <a:cs typeface="Arial"/>
              </a:defRPr>
            </a:pPr>
            <a:r>
              <a:rPr sz="2400" b="1">
                <a:solidFill>
                  <a:srgbClr val="00786F"/>
                </a:solidFill>
                <a:latin typeface="Arial"/>
                <a:ea typeface="Arial"/>
                <a:cs typeface="Arial"/>
              </a:rPr>
              <a:t>Laptop services</a:t>
            </a:r>
          </a:p>
        </p:txBody>
      </p:sp>
      <p:sp>
        <p:nvSpPr>
          <p:cNvPr id="8" name="">
            <a:extLst xmlns:a="http://schemas.openxmlformats.org/drawingml/2006/main">
              <a:ext uri="{FF2B5EF4-FFF2-40B4-BE49-F238E27FC236}">
                <a16:creationId xmlns:a16="http://schemas.microsoft.com/office/drawing/2014/main" id="{4F8F8F34-5055-4DA5-97F9-7331A9F3A4AC}"/>
              </a:ext>
            </a:extLst>
          </p:cNvPr>
          <p:cNvSpPr>
            <a:spLocks xmlns:a="http://schemas.openxmlformats.org/drawingml/2006/main" noGrp="1"/>
          </p:cNvSpPr>
          <p:nvPr/>
        </p:nvSpPr>
        <p:spPr>
          <a:xfrm xmlns:a="http://schemas.openxmlformats.org/drawingml/2006/main">
            <a:off x="8010525" y="2505075"/>
            <a:ext cx="32861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PostgreSQL, Ollama, whisper.cpp and private recordings</a:t>
            </a:r>
          </a:p>
        </p:txBody>
      </p:sp>
      <p:sp>
        <p:nvSpPr>
          <p:cNvPr id="9" name="">
            <a:extLst xmlns:a="http://schemas.openxmlformats.org/drawingml/2006/main">
              <a:ext uri="{FF2B5EF4-FFF2-40B4-BE49-F238E27FC236}">
                <a16:creationId xmlns:a16="http://schemas.microsoft.com/office/drawing/2014/main" id="{A99E117C-1118-4C0F-856D-89FCAF53A62B}"/>
              </a:ext>
            </a:extLst>
          </p:cNvPr>
          <p:cNvSpPr>
            <a:spLocks xmlns:a="http://schemas.openxmlformats.org/drawingml/2006/main" noGrp="1"/>
          </p:cNvSpPr>
          <p:nvPr/>
        </p:nvSpPr>
        <p:spPr>
          <a:xfrm xmlns:a="http://schemas.openxmlformats.org/drawingml/2006/main">
            <a:off x="704850" y="50292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The emulator connects to the laptop through an Android Debug Bridge port forward.</a:t>
            </a:r>
          </a:p>
        </p:txBody>
      </p:sp>
    </p:spTree>
    <p:extLst>
      <p:ext uri="{BB962C8B-B14F-4D97-AF65-F5344CB8AC3E}">
        <p14:creationId xmlns:p14="http://schemas.microsoft.com/office/powerpoint/2010/main" val="1297244918"/>
      </p:ext>
    </p:extLst>
  </p:cSld>
</p:sld>
</file>

<file path=ppt/slides/slide7.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7665F5-AC89-4EE4-B368-03B25151A275}"/>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Progress and recommendations</a:t>
            </a:r>
          </a:p>
        </p:txBody>
      </p:sp>
      <p:sp>
        <p:nvSpPr>
          <p:cNvPr id="2" name="">
            <a:extLst xmlns:a="http://schemas.openxmlformats.org/drawingml/2006/main">
              <a:ext uri="{FF2B5EF4-FFF2-40B4-BE49-F238E27FC236}">
                <a16:creationId xmlns:a16="http://schemas.microsoft.com/office/drawing/2014/main" id="{6C4BAACE-109D-4C85-A068-0CA059065143}"/>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B55FCD6-676F-430C-B0D1-3946CC3C7A6E}"/>
              </a:ext>
            </a:extLst>
          </p:cNvPr>
          <p:cNvSpPr>
            <a:spLocks xmlns:a="http://schemas.openxmlformats.org/drawingml/2006/main" noGrp="1"/>
          </p:cNvSpPr>
          <p:nvPr/>
        </p:nvSpPr>
        <p:spPr>
          <a:xfrm xmlns:a="http://schemas.openxmlformats.org/drawingml/2006/main">
            <a:off x="723900" y="1800225"/>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00786F"/>
                </a:solidFill>
                <a:latin typeface="Arial"/>
                <a:ea typeface="Arial"/>
                <a:cs typeface="Arial"/>
              </a:defRPr>
            </a:pPr>
            <a:r>
              <a:rPr sz="5025" b="1">
                <a:solidFill>
                  <a:srgbClr val="00786F"/>
                </a:solidFill>
                <a:latin typeface="Arial"/>
                <a:ea typeface="Arial"/>
                <a:cs typeface="Arial"/>
              </a:rPr>
              <a:t>40%</a:t>
            </a:r>
          </a:p>
        </p:txBody>
      </p:sp>
      <p:sp>
        <p:nvSpPr>
          <p:cNvPr id="4" name="">
            <a:extLst xmlns:a="http://schemas.openxmlformats.org/drawingml/2006/main">
              <a:ext uri="{FF2B5EF4-FFF2-40B4-BE49-F238E27FC236}">
                <a16:creationId xmlns:a16="http://schemas.microsoft.com/office/drawing/2014/main" id="{69E1FEED-35CE-4F7A-BCC6-0E12B66D387D}"/>
              </a:ext>
            </a:extLst>
          </p:cNvPr>
          <p:cNvSpPr>
            <a:spLocks xmlns:a="http://schemas.openxmlformats.org/drawingml/2006/main" noGrp="1"/>
          </p:cNvSpPr>
          <p:nvPr/>
        </p:nvSpPr>
        <p:spPr>
          <a:xfrm xmlns:a="http://schemas.openxmlformats.org/drawingml/2006/main">
            <a:off x="752475" y="2724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3A"/>
                </a:solidFill>
                <a:latin typeface="Arial"/>
                <a:ea typeface="Arial"/>
                <a:cs typeface="Arial"/>
              </a:defRPr>
            </a:pPr>
            <a:r>
              <a:rPr sz="2175" b="0">
                <a:solidFill>
                  <a:srgbClr val="17343A"/>
                </a:solidFill>
                <a:latin typeface="Arial"/>
                <a:ea typeface="Arial"/>
                <a:cs typeface="Arial"/>
              </a:rPr>
              <a:t>Interview</a:t>
            </a:r>
          </a:p>
        </p:txBody>
      </p:sp>
      <p:sp>
        <p:nvSpPr>
          <p:cNvPr id="5" name="">
            <a:extLst xmlns:a="http://schemas.openxmlformats.org/drawingml/2006/main">
              <a:ext uri="{FF2B5EF4-FFF2-40B4-BE49-F238E27FC236}">
                <a16:creationId xmlns:a16="http://schemas.microsoft.com/office/drawing/2014/main" id="{096DD46B-A70C-495D-B072-CC5ED232D948}"/>
              </a:ext>
            </a:extLst>
          </p:cNvPr>
          <p:cNvSpPr>
            <a:spLocks xmlns:a="http://schemas.openxmlformats.org/drawingml/2006/main" noGrp="1"/>
          </p:cNvSpPr>
          <p:nvPr/>
        </p:nvSpPr>
        <p:spPr>
          <a:xfrm xmlns:a="http://schemas.openxmlformats.org/drawingml/2006/main">
            <a:off x="4381500" y="1800225"/>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00786F"/>
                </a:solidFill>
                <a:latin typeface="Arial"/>
                <a:ea typeface="Arial"/>
                <a:cs typeface="Arial"/>
              </a:defRPr>
            </a:pPr>
            <a:r>
              <a:rPr sz="5025" b="1">
                <a:solidFill>
                  <a:srgbClr val="00786F"/>
                </a:solidFill>
                <a:latin typeface="Arial"/>
                <a:ea typeface="Arial"/>
                <a:cs typeface="Arial"/>
              </a:rPr>
              <a:t>40%</a:t>
            </a:r>
          </a:p>
        </p:txBody>
      </p:sp>
      <p:sp>
        <p:nvSpPr>
          <p:cNvPr id="6" name="">
            <a:extLst xmlns:a="http://schemas.openxmlformats.org/drawingml/2006/main">
              <a:ext uri="{FF2B5EF4-FFF2-40B4-BE49-F238E27FC236}">
                <a16:creationId xmlns:a16="http://schemas.microsoft.com/office/drawing/2014/main" id="{0649699E-E62F-47C0-951E-10634468C05C}"/>
              </a:ext>
            </a:extLst>
          </p:cNvPr>
          <p:cNvSpPr>
            <a:spLocks xmlns:a="http://schemas.openxmlformats.org/drawingml/2006/main" noGrp="1"/>
          </p:cNvSpPr>
          <p:nvPr/>
        </p:nvSpPr>
        <p:spPr>
          <a:xfrm xmlns:a="http://schemas.openxmlformats.org/drawingml/2006/main">
            <a:off x="4410075" y="2724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3A"/>
                </a:solidFill>
                <a:latin typeface="Arial"/>
                <a:ea typeface="Arial"/>
                <a:cs typeface="Arial"/>
              </a:defRPr>
            </a:pPr>
            <a:r>
              <a:rPr sz="2175" b="0">
                <a:solidFill>
                  <a:srgbClr val="17343A"/>
                </a:solidFill>
                <a:latin typeface="Arial"/>
                <a:ea typeface="Arial"/>
                <a:cs typeface="Arial"/>
              </a:rPr>
              <a:t>Tests</a:t>
            </a:r>
          </a:p>
        </p:txBody>
      </p:sp>
      <p:sp>
        <p:nvSpPr>
          <p:cNvPr id="7" name="">
            <a:extLst xmlns:a="http://schemas.openxmlformats.org/drawingml/2006/main">
              <a:ext uri="{FF2B5EF4-FFF2-40B4-BE49-F238E27FC236}">
                <a16:creationId xmlns:a16="http://schemas.microsoft.com/office/drawing/2014/main" id="{8D620F56-EEB4-4B64-B001-DDEDC523EBBD}"/>
              </a:ext>
            </a:extLst>
          </p:cNvPr>
          <p:cNvSpPr>
            <a:spLocks xmlns:a="http://schemas.openxmlformats.org/drawingml/2006/main" noGrp="1"/>
          </p:cNvSpPr>
          <p:nvPr/>
        </p:nvSpPr>
        <p:spPr>
          <a:xfrm xmlns:a="http://schemas.openxmlformats.org/drawingml/2006/main">
            <a:off x="8048625" y="1800225"/>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00786F"/>
                </a:solidFill>
                <a:latin typeface="Arial"/>
                <a:ea typeface="Arial"/>
                <a:cs typeface="Arial"/>
              </a:defRPr>
            </a:pPr>
            <a:r>
              <a:rPr sz="5025" b="1">
                <a:solidFill>
                  <a:srgbClr val="00786F"/>
                </a:solidFill>
                <a:latin typeface="Arial"/>
                <a:ea typeface="Arial"/>
                <a:cs typeface="Arial"/>
              </a:rPr>
              <a:t>20%</a:t>
            </a:r>
          </a:p>
        </p:txBody>
      </p:sp>
      <p:sp>
        <p:nvSpPr>
          <p:cNvPr id="8" name="">
            <a:extLst xmlns:a="http://schemas.openxmlformats.org/drawingml/2006/main">
              <a:ext uri="{FF2B5EF4-FFF2-40B4-BE49-F238E27FC236}">
                <a16:creationId xmlns:a16="http://schemas.microsoft.com/office/drawing/2014/main" id="{9A9E6701-B78E-42D4-A30E-CBD6758E709C}"/>
              </a:ext>
            </a:extLst>
          </p:cNvPr>
          <p:cNvSpPr>
            <a:spLocks xmlns:a="http://schemas.openxmlformats.org/drawingml/2006/main" noGrp="1"/>
          </p:cNvSpPr>
          <p:nvPr/>
        </p:nvSpPr>
        <p:spPr>
          <a:xfrm xmlns:a="http://schemas.openxmlformats.org/drawingml/2006/main">
            <a:off x="8077200" y="2724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3A"/>
                </a:solidFill>
                <a:latin typeface="Arial"/>
                <a:ea typeface="Arial"/>
                <a:cs typeface="Arial"/>
              </a:defRPr>
            </a:pPr>
            <a:r>
              <a:rPr sz="2175" b="0">
                <a:solidFill>
                  <a:srgbClr val="17343A"/>
                </a:solidFill>
                <a:latin typeface="Arial"/>
                <a:ea typeface="Arial"/>
                <a:cs typeface="Arial"/>
              </a:rPr>
              <a:t>English</a:t>
            </a:r>
          </a:p>
        </p:txBody>
      </p:sp>
      <p:sp>
        <p:nvSpPr>
          <p:cNvPr id="9" name="">
            <a:extLst xmlns:a="http://schemas.openxmlformats.org/drawingml/2006/main">
              <a:ext uri="{FF2B5EF4-FFF2-40B4-BE49-F238E27FC236}">
                <a16:creationId xmlns:a16="http://schemas.microsoft.com/office/drawing/2014/main" id="{6B3123B5-A601-4334-B699-C25C5E0B268A}"/>
              </a:ext>
            </a:extLst>
          </p:cNvPr>
          <p:cNvSpPr>
            <a:spLocks xmlns:a="http://schemas.openxmlformats.org/drawingml/2006/main" noGrp="1"/>
          </p:cNvSpPr>
          <p:nvPr/>
        </p:nvSpPr>
        <p:spPr>
          <a:xfrm xmlns:a="http://schemas.openxmlformats.org/drawingml/2006/main">
            <a:off x="723900" y="4029075"/>
            <a:ext cx="1062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43A"/>
                </a:solidFill>
                <a:latin typeface="Arial"/>
                <a:ea typeface="Arial"/>
                <a:cs typeface="Arial"/>
              </a:defRPr>
            </a:pPr>
            <a:r>
              <a:rPr sz="2250" b="1">
                <a:solidFill>
                  <a:srgbClr val="17343A"/>
                </a:solidFill>
                <a:latin typeface="Arial"/>
                <a:ea typeface="Arial"/>
                <a:cs typeface="Arial"/>
              </a:rPr>
              <a:t>An overall score appears after all three modules have eligible evidence.</a:t>
            </a:r>
          </a:p>
        </p:txBody>
      </p:sp>
      <p:sp>
        <p:nvSpPr>
          <p:cNvPr id="10" name="">
            <a:extLst xmlns:a="http://schemas.openxmlformats.org/drawingml/2006/main">
              <a:ext uri="{FF2B5EF4-FFF2-40B4-BE49-F238E27FC236}">
                <a16:creationId xmlns:a16="http://schemas.microsoft.com/office/drawing/2014/main" id="{3961232A-23C6-41BE-B9F6-453B6A130F90}"/>
              </a:ext>
            </a:extLst>
          </p:cNvPr>
          <p:cNvSpPr>
            <a:spLocks xmlns:a="http://schemas.openxmlformats.org/drawingml/2006/main" noGrp="1"/>
          </p:cNvSpPr>
          <p:nvPr/>
        </p:nvSpPr>
        <p:spPr>
          <a:xfrm xmlns:a="http://schemas.openxmlformats.org/drawingml/2006/main">
            <a:off x="723900" y="5248275"/>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Recommendations name a weak or missing area and suggest one next activity.</a:t>
            </a:r>
          </a:p>
        </p:txBody>
      </p:sp>
    </p:spTree>
    <p:extLst>
      <p:ext uri="{BB962C8B-B14F-4D97-AF65-F5344CB8AC3E}">
        <p14:creationId xmlns:p14="http://schemas.microsoft.com/office/powerpoint/2010/main" val="47235085"/>
      </p:ext>
    </p:extLst>
  </p:cSld>
</p:sld>
</file>

<file path=ppt/slides/slide8.xml><?xml version="1.0" encoding="utf-8"?>
<p:sld xmlns:p="http://schemas.openxmlformats.org/presentationml/2006/main">
  <p:cSld>
    <p:bg>
      <p:bgPr>
        <a:solidFill xmlns:a="http://schemas.openxmlformats.org/drawingml/2006/main">
          <a:srgbClr val="112B3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4C4E9E-D145-4E43-9A13-136C24ADF922}"/>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Current status and next steps</a:t>
            </a:r>
          </a:p>
        </p:txBody>
      </p:sp>
      <p:sp>
        <p:nvSpPr>
          <p:cNvPr id="2" name="">
            <a:extLst xmlns:a="http://schemas.openxmlformats.org/drawingml/2006/main">
              <a:ext uri="{FF2B5EF4-FFF2-40B4-BE49-F238E27FC236}">
                <a16:creationId xmlns:a16="http://schemas.microsoft.com/office/drawing/2014/main" id="{8CA6403C-6289-4A0A-A9FE-1E2221EAF7F7}"/>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FD8C6"/>
                </a:solidFill>
                <a:latin typeface="Arial"/>
                <a:ea typeface="Arial"/>
                <a:cs typeface="Arial"/>
              </a:defRPr>
            </a:pPr>
            <a:r>
              <a:rPr sz="1200" b="0">
                <a:solidFill>
                  <a:srgbClr val="8FD8C6"/>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B6DE2A3-D0D3-410A-8669-41C603A9BC04}"/>
              </a:ext>
            </a:extLst>
          </p:cNvPr>
          <p:cNvSpPr>
            <a:spLocks xmlns:a="http://schemas.openxmlformats.org/drawingml/2006/main" noGrp="1"/>
          </p:cNvSpPr>
          <p:nvPr/>
        </p:nvSpPr>
        <p:spPr>
          <a:xfrm xmlns:a="http://schemas.openxmlformats.org/drawingml/2006/main">
            <a:off x="723900" y="160020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8FD8C6"/>
                </a:solidFill>
                <a:latin typeface="Arial"/>
                <a:ea typeface="Arial"/>
                <a:cs typeface="Arial"/>
              </a:defRPr>
            </a:pPr>
            <a:r>
              <a:rPr sz="2925" b="1">
                <a:solidFill>
                  <a:srgbClr val="8FD8C6"/>
                </a:solidFill>
                <a:latin typeface="Arial"/>
                <a:ea typeface="Arial"/>
                <a:cs typeface="Arial"/>
              </a:rPr>
              <a:t>Working local prototype</a:t>
            </a:r>
          </a:p>
        </p:txBody>
      </p:sp>
      <p:sp>
        <p:nvSpPr>
          <p:cNvPr id="4" name="">
            <a:extLst xmlns:a="http://schemas.openxmlformats.org/drawingml/2006/main">
              <a:ext uri="{FF2B5EF4-FFF2-40B4-BE49-F238E27FC236}">
                <a16:creationId xmlns:a16="http://schemas.microsoft.com/office/drawing/2014/main" id="{F1D87855-402A-43EB-9869-CBD9E23122BB}"/>
              </a:ext>
            </a:extLst>
          </p:cNvPr>
          <p:cNvSpPr>
            <a:spLocks xmlns:a="http://schemas.openxmlformats.org/drawingml/2006/main" noGrp="1"/>
          </p:cNvSpPr>
          <p:nvPr/>
        </p:nvSpPr>
        <p:spPr>
          <a:xfrm xmlns:a="http://schemas.openxmlformats.org/drawingml/2006/main">
            <a:off x="723900" y="2457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Accounts, practice flows, reports and progress are implemented. Backend scoring and key API paths have automated checks.</a:t>
            </a:r>
          </a:p>
        </p:txBody>
      </p:sp>
      <p:sp>
        <p:nvSpPr>
          <p:cNvPr id="5" name="">
            <a:extLst xmlns:a="http://schemas.openxmlformats.org/drawingml/2006/main">
              <a:ext uri="{FF2B5EF4-FFF2-40B4-BE49-F238E27FC236}">
                <a16:creationId xmlns:a16="http://schemas.microsoft.com/office/drawing/2014/main" id="{C8CD6590-F0BE-45E1-A2F3-E86452BD8B68}"/>
              </a:ext>
            </a:extLst>
          </p:cNvPr>
          <p:cNvSpPr>
            <a:spLocks xmlns:a="http://schemas.openxmlformats.org/drawingml/2006/main" noGrp="1"/>
          </p:cNvSpPr>
          <p:nvPr/>
        </p:nvSpPr>
        <p:spPr>
          <a:xfrm xmlns:a="http://schemas.openxmlformats.org/drawingml/2006/main">
            <a:off x="723900" y="4533900"/>
            <a:ext cx="1019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Next: review more content, calibrate AI feedback with faculty, and finish emulator and accessibility testing.</a:t>
            </a:r>
          </a:p>
        </p:txBody>
      </p:sp>
    </p:spTree>
    <p:extLst>
      <p:ext uri="{BB962C8B-B14F-4D97-AF65-F5344CB8AC3E}">
        <p14:creationId xmlns:p14="http://schemas.microsoft.com/office/powerpoint/2010/main" val="111881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2026-10-06T18:01:41.4110000Z</dcterms:created>
  <dcterms:modified xsi:type="dcterms:W3CDTF">2026-10-06T18:01:41.4110000Z</dcterms:modified>
</coreProperties>
</file>